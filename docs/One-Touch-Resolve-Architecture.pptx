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37160"/>
            <a:ext cx="7620000" cy="4572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2600" b="1">
                <a:solidFill>
                  <a:srgbClr val="232F3E"/>
                </a:solidFill>
                <a:latin typeface="Arial"/>
              </a:rPr>
              <a:t>One Touch Resolve -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2420" y="502920"/>
            <a:ext cx="8382000" cy="2286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0">
                <a:solidFill>
                  <a:srgbClr val="5A6978"/>
                </a:solidFill>
                <a:latin typeface="Arial"/>
              </a:rPr>
              <a:t>Multi-party claims orchestration · AWS Communication Developer Services + Amazon Bedrock AgentCore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0" y="152400"/>
            <a:ext cx="3124200" cy="381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r"/>
            <a:r>
              <a:rPr sz="1200" b="1">
                <a:solidFill>
                  <a:srgbClr val="5F1EBE"/>
                </a:solidFill>
                <a:latin typeface="Arial"/>
              </a:rPr>
              <a:t>One Touch Resolve</a:t>
            </a:r>
          </a:p>
          <a:p>
            <a:pPr algn="r"/>
            <a:r>
              <a:rPr sz="800" b="0">
                <a:solidFill>
                  <a:srgbClr val="5A6978"/>
                </a:solidFill>
                <a:latin typeface="Arial"/>
              </a:rPr>
              <a:t>AWS CDS Agentic AI Partner 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22960"/>
            <a:ext cx="11430000" cy="5791200"/>
          </a:xfrm>
          <a:prstGeom prst="roundRect">
            <a:avLst/>
          </a:prstGeom>
          <a:noFill/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853440"/>
            <a:ext cx="3810000" cy="18288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Arial"/>
              </a:rPr>
              <a:t>AWS Cloud · one CDK stack  ·  Region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77600" cy="1143000"/>
          </a:xfrm>
          <a:prstGeom prst="rect">
            <a:avLst/>
          </a:prstGeom>
          <a:solidFill>
            <a:srgbClr val="F6FBFF"/>
          </a:solidFill>
          <a:ln w="15875">
            <a:solidFill>
              <a:srgbClr val="007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720" cy="1676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>
                <a:solidFill>
                  <a:srgbClr val="0073BB"/>
                </a:solidFill>
                <a:latin typeface="Arial"/>
              </a:rPr>
              <a:t>1 · AWS Communication Developer Services — communications backbone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09800"/>
            <a:ext cx="11277600" cy="1143000"/>
          </a:xfrm>
          <a:prstGeom prst="rect">
            <a:avLst/>
          </a:prstGeom>
          <a:solidFill>
            <a:srgbClr val="FBF9FF"/>
          </a:solidFill>
          <a:ln w="15875">
            <a:solidFill>
              <a:srgbClr val="7D3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55520"/>
            <a:ext cx="11094720" cy="1676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>
                <a:solidFill>
                  <a:srgbClr val="7D3CCF"/>
                </a:solidFill>
                <a:latin typeface="Arial"/>
              </a:rPr>
              <a:t>2 · Ingest &amp; Dispatch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05200"/>
            <a:ext cx="11277600" cy="1600200"/>
          </a:xfrm>
          <a:prstGeom prst="rect">
            <a:avLst/>
          </a:prstGeom>
          <a:solidFill>
            <a:srgbClr val="F5FCFA"/>
          </a:solidFill>
          <a:ln w="15875">
            <a:solidFill>
              <a:srgbClr val="01A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50920"/>
            <a:ext cx="11094720" cy="1676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>
                <a:solidFill>
                  <a:srgbClr val="01A88D"/>
                </a:solidFill>
                <a:latin typeface="Arial"/>
              </a:rPr>
              <a:t>3 · Multi-Agent Orchestration — Amazon Bedrock AgentCore (Runtime · Memory · Strands · Nova)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11277600" cy="914400"/>
          </a:xfrm>
          <a:prstGeom prst="rect">
            <a:avLst/>
          </a:prstGeom>
          <a:solidFill>
            <a:srgbClr val="FFFAF4"/>
          </a:solidFill>
          <a:ln w="15875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1094720" cy="1676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>
                <a:solidFill>
                  <a:srgbClr val="ED7100"/>
                </a:solidFill>
                <a:latin typeface="Arial"/>
              </a:rPr>
              <a:t>4 · State, Persistence &amp; Observability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200" y="3962400"/>
            <a:ext cx="5334000" cy="990600"/>
          </a:xfrm>
          <a:prstGeom prst="roundRect">
            <a:avLst/>
          </a:prstGeom>
          <a:solidFill>
            <a:srgbClr val="F3F0FB"/>
          </a:solidFill>
          <a:ln w="25400">
            <a:solidFill>
              <a:srgbClr val="5F1E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0920" y="4008120"/>
            <a:ext cx="5242560" cy="914400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200" b="1">
                <a:solidFill>
                  <a:srgbClr val="5F1EBE"/>
                </a:solidFill>
                <a:latin typeface="Arial"/>
              </a:rPr>
              <a:t>MULTI-PARTY COMMIT GATE · HUMAN APPROVAL</a:t>
            </a:r>
          </a:p>
          <a:p>
            <a:pPr algn="ctr"/>
            <a:r>
              <a:rPr sz="950" b="0">
                <a:solidFill>
                  <a:srgbClr val="5A6978"/>
                </a:solidFill>
                <a:latin typeface="Arial"/>
              </a:rPr>
              <a:t>Blocks advance until all required parties COMMIT · re-plans on BLOCKED · then PENDING_APPROVAL: adjuster Approve/Hold - no payout without a human (code-enforced)</a:t>
            </a:r>
          </a:p>
          <a:p>
            <a:pPr algn="ctr"/>
            <a:r>
              <a:rPr sz="900" b="1">
                <a:solidFill>
                  <a:srgbClr val="5F1EBE"/>
                </a:solidFill>
                <a:latin typeface="Arial"/>
              </a:rPr>
              <a:t>CLOSED   ·   RE-PLAN   ·   OPEN   ·   APPROVE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6000" y="2057400"/>
            <a:ext cx="0" cy="381000"/>
          </a:xfrm>
          <a:prstGeom prst="bentConnector3">
            <a:avLst/>
          </a:prstGeom>
          <a:ln w="28575">
            <a:solidFill>
              <a:srgbClr val="8795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90800" y="2743200"/>
            <a:ext cx="876300" cy="0"/>
          </a:xfrm>
          <a:prstGeom prst="bentConnector3">
            <a:avLst/>
          </a:prstGeom>
          <a:ln w="28575">
            <a:solidFill>
              <a:srgbClr val="8795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57700" y="2743200"/>
            <a:ext cx="1066800" cy="0"/>
          </a:xfrm>
          <a:prstGeom prst="bentConnector3">
            <a:avLst/>
          </a:prstGeom>
          <a:ln w="28575">
            <a:solidFill>
              <a:srgbClr val="8795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19600" y="2659380"/>
            <a:ext cx="1295400" cy="16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79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850" b="1">
                <a:solidFill>
                  <a:srgbClr val="8795A4"/>
                </a:solidFill>
                <a:latin typeface="Arial"/>
              </a:rPr>
              <a:t>media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86000" y="2895600"/>
            <a:ext cx="1676400" cy="914400"/>
          </a:xfrm>
          <a:prstGeom prst="bentConnector3">
            <a:avLst/>
          </a:prstGeom>
          <a:ln w="28575">
            <a:solidFill>
              <a:srgbClr val="8795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14600" y="4267200"/>
            <a:ext cx="952500" cy="0"/>
          </a:xfrm>
          <a:prstGeom prst="bentConnector3">
            <a:avLst/>
          </a:prstGeom>
          <a:ln w="28575">
            <a:solidFill>
              <a:srgbClr val="01A8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419350" y="4183380"/>
            <a:ext cx="1295400" cy="16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1A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850" b="1">
                <a:solidFill>
                  <a:srgbClr val="01A88D"/>
                </a:solidFill>
                <a:latin typeface="Arial"/>
              </a:rPr>
              <a:t>A2A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39200" y="4267200"/>
            <a:ext cx="495300" cy="0"/>
          </a:xfrm>
          <a:prstGeom prst="bentConnector3">
            <a:avLst/>
          </a:prstGeom>
          <a:ln w="28575">
            <a:solidFill>
              <a:srgbClr val="01A8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63200" y="4267200"/>
            <a:ext cx="213360" cy="0"/>
          </a:xfrm>
          <a:prstGeom prst="bentConnector3">
            <a:avLst/>
          </a:prstGeom>
          <a:ln w="28575">
            <a:solidFill>
              <a:srgbClr val="01A8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972800" y="4419600"/>
            <a:ext cx="609600" cy="457200"/>
          </a:xfrm>
          <a:prstGeom prst="bentConnector3">
            <a:avLst/>
          </a:prstGeom>
          <a:ln w="28575">
            <a:solidFill>
              <a:srgbClr val="ED7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706100" y="4564380"/>
            <a:ext cx="1295400" cy="16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850" b="1">
                <a:solidFill>
                  <a:srgbClr val="ED7100"/>
                </a:solidFill>
                <a:latin typeface="Arial"/>
              </a:rPr>
              <a:t>InvokeModel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05500" y="2743200"/>
            <a:ext cx="5867400" cy="2209800"/>
          </a:xfrm>
          <a:prstGeom prst="bentConnector3">
            <a:avLst/>
          </a:prstGeom>
          <a:ln w="22225">
            <a:solidFill>
              <a:srgbClr val="ED71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67700" y="3764280"/>
            <a:ext cx="1295400" cy="16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850" b="1">
                <a:solidFill>
                  <a:srgbClr val="ED7100"/>
                </a:solidFill>
                <a:latin typeface="Arial"/>
              </a:rPr>
              <a:t>FNOL media -&gt; Nova vision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438400" y="4419600"/>
            <a:ext cx="8382000" cy="914400"/>
          </a:xfrm>
          <a:prstGeom prst="bentConnector3">
            <a:avLst/>
          </a:prstGeom>
          <a:ln w="22225">
            <a:solidFill>
              <a:srgbClr val="7D3CC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57900" y="4792980"/>
            <a:ext cx="1295400" cy="16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D3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850" b="1">
                <a:solidFill>
                  <a:srgbClr val="7D3CCF"/>
                </a:solidFill>
                <a:latin typeface="Arial"/>
              </a:rPr>
              <a:t>persist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877300" y="4419600"/>
            <a:ext cx="2019300" cy="914400"/>
          </a:xfrm>
          <a:prstGeom prst="bentConnector3">
            <a:avLst/>
          </a:prstGeom>
          <a:ln w="28575">
            <a:solidFill>
              <a:srgbClr val="7D3C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763000" y="2057400"/>
            <a:ext cx="2514600" cy="2057400"/>
          </a:xfrm>
          <a:prstGeom prst="bentConnector3">
            <a:avLst/>
          </a:prstGeom>
          <a:ln w="22225">
            <a:solidFill>
              <a:srgbClr val="7D3CC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48800" y="3002280"/>
            <a:ext cx="1295400" cy="16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D3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850" b="1">
                <a:solidFill>
                  <a:srgbClr val="7D3CCF"/>
                </a:solidFill>
                <a:latin typeface="Arial"/>
              </a:rPr>
              <a:t>outbound CDS</a:t>
            </a:r>
          </a:p>
        </p:txBody>
      </p:sp>
      <p:pic>
        <p:nvPicPr>
          <p:cNvPr id="35" name="Picture 34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396240" cy="3962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5320" y="15697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EUM Social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WhatsApp — FNOL media</a:t>
            </a:r>
          </a:p>
          <a:p>
            <a:pPr algn="ctr"/>
            <a:r>
              <a:rPr sz="800" b="1">
                <a:solidFill>
                  <a:srgbClr val="ED7100"/>
                </a:solidFill>
                <a:latin typeface="Arial"/>
              </a:rPr>
              <a:t>AWS End User Messaging Social</a:t>
            </a:r>
          </a:p>
        </p:txBody>
      </p:sp>
      <p:pic>
        <p:nvPicPr>
          <p:cNvPr id="37" name="Picture 36" descr="r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143000"/>
            <a:ext cx="396240" cy="3962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12720" y="15697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EUM RCS / SMS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cards · RCS-&gt;SMS fallback</a:t>
            </a:r>
          </a:p>
          <a:p>
            <a:pPr algn="ctr"/>
            <a:r>
              <a:rPr sz="800" b="1">
                <a:solidFill>
                  <a:srgbClr val="ED7100"/>
                </a:solidFill>
                <a:latin typeface="Arial"/>
              </a:rPr>
              <a:t>AWS End User Messaging</a:t>
            </a:r>
          </a:p>
        </p:txBody>
      </p:sp>
      <p:pic>
        <p:nvPicPr>
          <p:cNvPr id="39" name="Picture 38" descr="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280" y="1143000"/>
            <a:ext cx="396240" cy="3962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846320" y="15697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Amazon SES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coverage / settlement</a:t>
            </a:r>
          </a:p>
          <a:p>
            <a:pPr algn="ctr"/>
            <a:r>
              <a:rPr sz="800" b="1">
                <a:solidFill>
                  <a:srgbClr val="ED7100"/>
                </a:solidFill>
                <a:latin typeface="Arial"/>
              </a:rPr>
              <a:t>Amazon SES</a:t>
            </a:r>
          </a:p>
        </p:txBody>
      </p:sp>
      <p:pic>
        <p:nvPicPr>
          <p:cNvPr id="41" name="Picture 40" descr="rou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3480" y="1143000"/>
            <a:ext cx="396240" cy="3962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51520" y="15697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Channel router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right channel per party</a:t>
            </a:r>
          </a:p>
        </p:txBody>
      </p:sp>
      <p:pic>
        <p:nvPicPr>
          <p:cNvPr id="43" name="Picture 42" descr="s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2438400"/>
            <a:ext cx="396240" cy="3962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569720" y="28651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Amazon SNS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topic per channel</a:t>
            </a:r>
          </a:p>
        </p:txBody>
      </p:sp>
      <p:pic>
        <p:nvPicPr>
          <p:cNvPr id="45" name="Picture 44" descr="lamb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2438400"/>
            <a:ext cx="396240" cy="3962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398520" y="28651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Dispatcher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normalize-dedupe-invoke</a:t>
            </a:r>
          </a:p>
        </p:txBody>
      </p:sp>
      <p:pic>
        <p:nvPicPr>
          <p:cNvPr id="47" name="Picture 46" descr="s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1680" y="2438400"/>
            <a:ext cx="396240" cy="3962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379720" y="28651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Amazon S3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FNOL photos/video</a:t>
            </a:r>
          </a:p>
        </p:txBody>
      </p:sp>
      <p:pic>
        <p:nvPicPr>
          <p:cNvPr id="49" name="Picture 48" descr="dynamod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0" y="2438400"/>
            <a:ext cx="396240" cy="3962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284720" y="28651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Dedupe table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idempotency · TTL</a:t>
            </a:r>
          </a:p>
        </p:txBody>
      </p:sp>
      <p:pic>
        <p:nvPicPr>
          <p:cNvPr id="51" name="Picture 50" descr="agentc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3080" y="3810000"/>
            <a:ext cx="396240" cy="39624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341120" y="42367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Supervisor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plans-reconciles-re-plans</a:t>
            </a:r>
          </a:p>
        </p:txBody>
      </p:sp>
      <p:pic>
        <p:nvPicPr>
          <p:cNvPr id="53" name="Picture 52" descr="claima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1680" y="3848100"/>
            <a:ext cx="396240" cy="39624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189720" y="42748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Sub-agents x4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Claimant-Repair-Parts-Lien</a:t>
            </a:r>
          </a:p>
        </p:txBody>
      </p:sp>
      <p:pic>
        <p:nvPicPr>
          <p:cNvPr id="55" name="Picture 54" descr="lamb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0880" y="3848100"/>
            <a:ext cx="396240" cy="3962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408920" y="42748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Tools (Lambda)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open-estimate-settle</a:t>
            </a:r>
          </a:p>
        </p:txBody>
      </p:sp>
      <p:pic>
        <p:nvPicPr>
          <p:cNvPr id="57" name="Picture 56" descr="agentc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4080" y="3276600"/>
            <a:ext cx="396240" cy="39624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42120" y="37033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AgentCore Memory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state by actor_id</a:t>
            </a:r>
          </a:p>
        </p:txBody>
      </p:sp>
      <p:pic>
        <p:nvPicPr>
          <p:cNvPr id="59" name="Picture 58" descr="bedro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60480" y="4876800"/>
            <a:ext cx="396240" cy="39624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018520" y="53035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Bedrock · Nova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triage + tool-calling</a:t>
            </a:r>
          </a:p>
        </p:txBody>
      </p:sp>
      <p:pic>
        <p:nvPicPr>
          <p:cNvPr id="61" name="Picture 60" descr="dynamod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4080" y="5334000"/>
            <a:ext cx="396240" cy="39624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722120" y="57607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coe-claims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source of truth · PITR</a:t>
            </a:r>
          </a:p>
        </p:txBody>
      </p:sp>
      <p:pic>
        <p:nvPicPr>
          <p:cNvPr id="63" name="Picture 62" descr="cloudwatc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6280" y="5334000"/>
            <a:ext cx="396240" cy="3962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084320" y="57607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CloudWatch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DLQ + error alarms</a:t>
            </a:r>
          </a:p>
        </p:txBody>
      </p:sp>
      <p:pic>
        <p:nvPicPr>
          <p:cNvPr id="65" name="Picture 64" descr="iam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0" y="5334000"/>
            <a:ext cx="396240" cy="3962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141720" y="57607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IAM least-priv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scoped send-ddb-bedrock</a:t>
            </a:r>
          </a:p>
        </p:txBody>
      </p:sp>
      <p:pic>
        <p:nvPicPr>
          <p:cNvPr id="67" name="Picture 66" descr="dynamod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080" y="5334000"/>
            <a:ext cx="396240" cy="39624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199120" y="5760720"/>
            <a:ext cx="1280160" cy="4724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232F3E"/>
                </a:solidFill>
                <a:latin typeface="Arial"/>
              </a:rPr>
              <a:t>coe-fleet</a:t>
            </a:r>
          </a:p>
          <a:p>
            <a:pPr algn="ctr"/>
            <a:r>
              <a:rPr sz="900" b="0">
                <a:solidFill>
                  <a:srgbClr val="5A6978"/>
                </a:solidFill>
                <a:latin typeface="Arial"/>
              </a:rPr>
              <a:t>managed rental fleet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67600" y="5791200"/>
            <a:ext cx="3276600" cy="701040"/>
          </a:xfrm>
          <a:prstGeom prst="rect">
            <a:avLst/>
          </a:prstGeom>
          <a:solidFill>
            <a:srgbClr val="FAFBFD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43800" y="5814060"/>
            <a:ext cx="1524000" cy="1371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rial"/>
              </a:rPr>
              <a:t>ARROW KEY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589520" y="6057900"/>
            <a:ext cx="259080" cy="0"/>
          </a:xfrm>
          <a:prstGeom prst="line">
            <a:avLst/>
          </a:prstGeom>
          <a:ln w="31750">
            <a:solidFill>
              <a:srgbClr val="8795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909560" y="6004560"/>
            <a:ext cx="1295400" cy="1371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>
                <a:solidFill>
                  <a:srgbClr val="232F3E"/>
                </a:solidFill>
                <a:latin typeface="Arial"/>
              </a:rPr>
              <a:t>Inbound / control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189720" y="6057900"/>
            <a:ext cx="259080" cy="0"/>
          </a:xfrm>
          <a:prstGeom prst="line">
            <a:avLst/>
          </a:prstGeom>
          <a:ln w="31750">
            <a:solidFill>
              <a:srgbClr val="01A8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509760" y="6004560"/>
            <a:ext cx="1295400" cy="1371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>
                <a:solidFill>
                  <a:srgbClr val="232F3E"/>
                </a:solidFill>
                <a:latin typeface="Arial"/>
              </a:rPr>
              <a:t>Agent (A2A) calls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589520" y="6271260"/>
            <a:ext cx="259080" cy="0"/>
          </a:xfrm>
          <a:prstGeom prst="line">
            <a:avLst/>
          </a:prstGeom>
          <a:ln w="31750">
            <a:solidFill>
              <a:srgbClr val="ED7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909560" y="6217920"/>
            <a:ext cx="1295400" cy="1371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>
                <a:solidFill>
                  <a:srgbClr val="232F3E"/>
                </a:solidFill>
                <a:latin typeface="Arial"/>
              </a:rPr>
              <a:t>Bedrock InvokeModel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189720" y="6271260"/>
            <a:ext cx="259080" cy="0"/>
          </a:xfrm>
          <a:prstGeom prst="line">
            <a:avLst/>
          </a:prstGeom>
          <a:ln w="31750">
            <a:solidFill>
              <a:srgbClr val="7D3C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509760" y="6217920"/>
            <a:ext cx="1295400" cy="1371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>
                <a:solidFill>
                  <a:srgbClr val="232F3E"/>
                </a:solidFill>
                <a:latin typeface="Arial"/>
              </a:rPr>
              <a:t>Outbound CDS / persist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5806440"/>
            <a:ext cx="1295400" cy="426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1400" b="1">
                <a:solidFill>
                  <a:srgbClr val="5F1EBE"/>
                </a:solidFill>
                <a:latin typeface="Arial"/>
              </a:rPr>
              <a:t>3 CDS</a:t>
            </a:r>
          </a:p>
          <a:p>
            <a:pPr algn="ctr"/>
            <a:r>
              <a:rPr sz="850" b="0">
                <a:solidFill>
                  <a:srgbClr val="5A6978"/>
                </a:solidFill>
                <a:latin typeface="Arial"/>
              </a:rPr>
              <a:t>WhatsApp-RCS/SMS-SES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28800" y="5806440"/>
            <a:ext cx="1295400" cy="426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1400" b="1">
                <a:solidFill>
                  <a:srgbClr val="5F1EBE"/>
                </a:solidFill>
                <a:latin typeface="Arial"/>
              </a:rPr>
              <a:t>1+4</a:t>
            </a:r>
          </a:p>
          <a:p>
            <a:pPr algn="ctr"/>
            <a:r>
              <a:rPr sz="850" b="0">
                <a:solidFill>
                  <a:srgbClr val="5A6978"/>
                </a:solidFill>
                <a:latin typeface="Arial"/>
              </a:rPr>
              <a:t>supervisor + sub-agents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00400" y="5806440"/>
            <a:ext cx="1295400" cy="426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1400" b="1">
                <a:solidFill>
                  <a:srgbClr val="5F1EBE"/>
                </a:solidFill>
                <a:latin typeface="Arial"/>
              </a:rPr>
              <a:t>1 gate</a:t>
            </a:r>
          </a:p>
          <a:p>
            <a:pPr algn="ctr"/>
            <a:r>
              <a:rPr sz="850" b="0">
                <a:solidFill>
                  <a:srgbClr val="5A6978"/>
                </a:solidFill>
                <a:latin typeface="Arial"/>
              </a:rPr>
              <a:t>commit + human approval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0" y="5806440"/>
            <a:ext cx="1295400" cy="426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1400" b="1">
                <a:solidFill>
                  <a:srgbClr val="5F1EBE"/>
                </a:solidFill>
                <a:latin typeface="Arial"/>
              </a:rPr>
              <a:t>1 CDK</a:t>
            </a:r>
          </a:p>
          <a:p>
            <a:pPr algn="ctr"/>
            <a:r>
              <a:rPr sz="850" b="0">
                <a:solidFill>
                  <a:srgbClr val="5A6978"/>
                </a:solidFill>
                <a:latin typeface="Arial"/>
              </a:rPr>
              <a:t>one-command deploy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0" y="5806440"/>
            <a:ext cx="1295400" cy="426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/>
            <a:r>
              <a:rPr sz="1400" b="1">
                <a:solidFill>
                  <a:srgbClr val="5F1EBE"/>
                </a:solidFill>
                <a:latin typeface="Arial"/>
              </a:rPr>
              <a:t>re-skin</a:t>
            </a:r>
          </a:p>
          <a:p>
            <a:pPr algn="ctr"/>
            <a:r>
              <a:rPr sz="850" b="0">
                <a:solidFill>
                  <a:srgbClr val="5A6978"/>
                </a:solidFill>
                <a:latin typeface="Arial"/>
              </a:rPr>
              <a:t>swap roster -&gt; vertical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644640"/>
            <a:ext cx="4572000" cy="1524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8B93A7"/>
                </a:solidFill>
                <a:latin typeface="Arial"/>
              </a:rPr>
              <a:t>© 2026 · One Touch Resolve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